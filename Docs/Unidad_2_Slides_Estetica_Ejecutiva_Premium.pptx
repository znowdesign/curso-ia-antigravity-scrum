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Introducir la visión ejecutiva: no es automatización, es arquitectura operativa avanzada.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el agente no elimina etapas del board; opera dentro del flujo controlado.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Resaltar que sin métricas automatizadas no existe Definition of Done profesional.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Reforzar que el ingeniero decide; el agente ejecuta.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cómo estas métricas permiten evaluar madurez profesional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40"/>
                </a:solidFill>
              </a:defRPr>
            </a:pPr>
            <a:r>
              <a:t>Scrum + IA: Nueva Arquitectura 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Scrum coordina humanos + agentes IA</a:t>
            </a:r>
          </a:p>
          <a:p>
            <a:pPr lvl="1">
              <a:defRPr sz="2000"/>
            </a:pPr>
            <a:r>
              <a:t>Delegación estratégica dentro del Sprint</a:t>
            </a:r>
          </a:p>
          <a:p>
            <a:pPr lvl="1">
              <a:defRPr sz="2000"/>
            </a:pPr>
            <a:r>
              <a:t>Validación automática como estándar obligatorio</a:t>
            </a:r>
          </a:p>
          <a:p>
            <a:pPr lvl="1">
              <a:defRPr sz="2000"/>
            </a:pPr>
            <a:r>
              <a:t>Gobernanza técnica como diferenciador profesional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40"/>
                </a:solidFill>
              </a:defRPr>
            </a:pPr>
            <a:r>
              <a:t>Scrum Board Enterprise con Agentes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Backlog priorizado estratégicamente</a:t>
            </a:r>
          </a:p>
          <a:p>
            <a:pPr lvl="1">
              <a:defRPr sz="2000"/>
            </a:pPr>
            <a:r>
              <a:t>In Progress: tareas delegadas bajo supervisión</a:t>
            </a:r>
          </a:p>
          <a:p>
            <a:pPr lvl="1">
              <a:defRPr sz="2000"/>
            </a:pPr>
            <a:r>
              <a:t>Code Review obligatorio antes de Done</a:t>
            </a:r>
          </a:p>
          <a:p>
            <a:pPr lvl="1">
              <a:defRPr sz="2000"/>
            </a:pPr>
            <a:r>
              <a:t>Agente opera bajo control del equipo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40"/>
                </a:solidFill>
              </a:defRPr>
            </a:pPr>
            <a:r>
              <a:t>Pipeline CI/CD Integrado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Build automatizado</a:t>
            </a:r>
          </a:p>
          <a:p>
            <a:pPr lvl="1">
              <a:defRPr sz="2000"/>
            </a:pPr>
            <a:r>
              <a:t>Tests con coverage ≥ 70%</a:t>
            </a:r>
          </a:p>
          <a:p>
            <a:pPr lvl="1">
              <a:defRPr sz="2000"/>
            </a:pPr>
            <a:r>
              <a:t>Lint sin errores críticos</a:t>
            </a:r>
          </a:p>
          <a:p>
            <a:pPr lvl="1">
              <a:defRPr sz="2000"/>
            </a:pPr>
            <a:r>
              <a:t>Security Scan obligatorio</a:t>
            </a:r>
          </a:p>
          <a:p>
            <a:pPr lvl="1">
              <a:defRPr sz="2000"/>
            </a:pPr>
            <a:r>
              <a:t>Deploy solo con pipeline verde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40"/>
                </a:solidFill>
              </a:defRPr>
            </a:pPr>
            <a:r>
              <a:t>Flujo Ejecutivo de Delegación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Diseño estratégico antes de delegar</a:t>
            </a:r>
          </a:p>
          <a:p>
            <a:pPr lvl="1">
              <a:defRPr sz="2000"/>
            </a:pPr>
            <a:r>
              <a:t>Prompt estructurado con restricciones</a:t>
            </a:r>
          </a:p>
          <a:p>
            <a:pPr lvl="1">
              <a:defRPr sz="2000"/>
            </a:pPr>
            <a:r>
              <a:t>Generación controlada</a:t>
            </a:r>
          </a:p>
          <a:p>
            <a:pPr lvl="1">
              <a:defRPr sz="2000"/>
            </a:pPr>
            <a:r>
              <a:t>Validación automática</a:t>
            </a:r>
          </a:p>
          <a:p>
            <a:pPr lvl="1">
              <a:defRPr sz="2000"/>
            </a:pPr>
            <a:r>
              <a:t>Refactorización y mejora continua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40"/>
                </a:solidFill>
              </a:defRPr>
            </a:pPr>
            <a:r>
              <a:t>Métricas de Madurez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Ratio delegación vs supervisión</a:t>
            </a:r>
          </a:p>
          <a:p>
            <a:pPr lvl="1">
              <a:defRPr sz="2000"/>
            </a:pPr>
            <a:r>
              <a:t>Iteraciones por historia</a:t>
            </a:r>
          </a:p>
          <a:p>
            <a:pPr lvl="1">
              <a:defRPr sz="2000"/>
            </a:pPr>
            <a:r>
              <a:t>Fallos CI por sprint</a:t>
            </a:r>
          </a:p>
          <a:p>
            <a:pPr lvl="1">
              <a:defRPr sz="2000"/>
            </a:pPr>
            <a:r>
              <a:t>Mejora cuantificable por iteración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